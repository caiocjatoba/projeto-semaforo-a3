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92225-F82F-1ED5-F3C4-8E88EE42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594EE-301D-531F-101C-001CFA857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55AE7-DA5F-A3D4-7EE6-9BC98FF11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8217F-5541-1518-7FDE-EE13CFF19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48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65A92-6E9F-0E2C-BD36-02BC6A239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FBC4E-10F1-1A14-FF84-C1D2FFB42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02C72-37C5-4AC2-E139-7AD767828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FCF8C-F85F-2225-9E24-DFF39D36C4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43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0F125E-BCE5-D877-7955-7369289CA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12191CB-B2E8-5E6A-7EC7-0C6392D8DEF3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9FC2E4-D4ED-9727-9036-810B0474A855}"/>
              </a:ext>
            </a:extLst>
          </p:cNvPr>
          <p:cNvSpPr/>
          <p:nvPr/>
        </p:nvSpPr>
        <p:spPr>
          <a:xfrm>
            <a:off x="365760" y="914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AUTOMATIZADO DE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INTELIGENTE</a:t>
            </a:r>
            <a:endParaRPr lang="en-US" sz="3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3C3D6EA-CC0E-2895-D672-85E57CEC2F6A}"/>
              </a:ext>
            </a:extLst>
          </p:cNvPr>
          <p:cNvSpPr/>
          <p:nvPr/>
        </p:nvSpPr>
        <p:spPr>
          <a:xfrm>
            <a:off x="365760" y="2423160"/>
            <a:ext cx="50292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EFC4D0-3FFB-32C8-8A57-7967772A2FA4}"/>
              </a:ext>
            </a:extLst>
          </p:cNvPr>
          <p:cNvSpPr/>
          <p:nvPr/>
        </p:nvSpPr>
        <p:spPr>
          <a:xfrm>
            <a:off x="36576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para Avaliação A3 – Sistemas Automatizados</a:t>
            </a:r>
            <a:endParaRPr lang="en-US" sz="1600" dirty="0"/>
          </a:p>
        </p:txBody>
      </p:sp>
      <p:pic>
        <p:nvPicPr>
          <p:cNvPr id="12" name="Imagem 11" descr="Imagens Semáforo PNG e Vetor, com Fundo Transparente Para ...">
            <a:extLst>
              <a:ext uri="{FF2B5EF4-FFF2-40B4-BE49-F238E27FC236}">
                <a16:creationId xmlns:a16="http://schemas.microsoft.com/office/drawing/2014/main" id="{9AF98265-47CC-01EF-2F15-06633FF42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582" y="1051561"/>
            <a:ext cx="3429000" cy="34290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52CD65F9-3BE9-959B-5332-9ABBDAC7036E}"/>
              </a:ext>
            </a:extLst>
          </p:cNvPr>
          <p:cNvSpPr/>
          <p:nvPr/>
        </p:nvSpPr>
        <p:spPr>
          <a:xfrm>
            <a:off x="365760" y="27889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Robson Calvetti  | Engenharia de software | USJT  |  2026/1</a:t>
            </a:r>
            <a:endParaRPr lang="en-US" sz="13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C67444D-F4D2-5060-AD51-04C165126D89}"/>
              </a:ext>
            </a:extLst>
          </p:cNvPr>
          <p:cNvSpPr/>
          <p:nvPr/>
        </p:nvSpPr>
        <p:spPr>
          <a:xfrm>
            <a:off x="365760" y="4297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Simulador: PLC Fiddle  |  Linguagem: Ladder (LD)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0710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132320" y="602674"/>
            <a:ext cx="1645920" cy="3840480"/>
          </a:xfrm>
          <a:prstGeom prst="roundRect">
            <a:avLst>
              <a:gd name="adj" fmla="val 8333"/>
            </a:avLst>
          </a:prstGeom>
          <a:solidFill>
            <a:srgbClr val="141E27"/>
          </a:solidFill>
          <a:ln w="1270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Shape 2"/>
          <p:cNvSpPr/>
          <p:nvPr/>
        </p:nvSpPr>
        <p:spPr>
          <a:xfrm>
            <a:off x="7406640" y="777240"/>
            <a:ext cx="1097280" cy="10972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06640" y="2011680"/>
            <a:ext cx="1097280" cy="1097280"/>
          </a:xfrm>
          <a:prstGeom prst="ellipse">
            <a:avLst/>
          </a:prstGeom>
          <a:solidFill>
            <a:srgbClr val="F4D03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06640" y="3246120"/>
            <a:ext cx="1097280" cy="10972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347472" y="1828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AUTOMATIZADO DE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INTELIGENTE – A3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" y="1508760"/>
            <a:ext cx="5029200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65760" y="16687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DE SOFTWARE</a:t>
            </a:r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Robson Calvetti  |  USJT  |  2026/1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Simulador: PLC Fiddle  |  Linguagem: Ladder (LD)</a:t>
            </a:r>
            <a:endParaRPr lang="en-US" sz="1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5667543F-EE37-AD12-4698-B12D217E07A1}"/>
              </a:ext>
            </a:extLst>
          </p:cNvPr>
          <p:cNvSpPr/>
          <p:nvPr/>
        </p:nvSpPr>
        <p:spPr>
          <a:xfrm>
            <a:off x="365760" y="2522914"/>
            <a:ext cx="6583680" cy="165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Coelho Jatobá                          RA: 823160685</a:t>
            </a:r>
          </a:p>
          <a:p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Luiza S. Kodama                    RA: 823128136</a:t>
            </a:r>
          </a:p>
          <a:p>
            <a:r>
              <a:rPr lang="pt-BR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Emanuel S. Adriano                RA: 823149648</a:t>
            </a:r>
            <a:b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t-BR" sz="1600" dirty="0" err="1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Enzzon</a:t>
            </a:r>
            <a:r>
              <a:rPr lang="pt-BR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Gusttavo O. Nascimento   RA: 823153720</a:t>
            </a:r>
          </a:p>
          <a:p>
            <a:r>
              <a:rPr lang="pt-BR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Expedito P. da Silva              RA:823133548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Abordado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Cruzamentos urbanos exigem controle preciso e seguro do fluxo de veículos e pedestres.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de sincronização pode causar acidentes graves.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tradicional (relés eletromecânicos) é cara e difícil de manter.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2E86C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Proposta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automatizado com CLP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programado em linguagem Ladder, controlando um cruzamento completo com: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Semáforos veiculares (2 vias)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Semáforo de pedestre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Botão de solicitação de travessia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Temporização segura entre estados</a:t>
            </a:r>
            <a:endParaRPr lang="en-US" sz="1400" dirty="0"/>
          </a:p>
        </p:txBody>
      </p:sp>
      <p:pic>
        <p:nvPicPr>
          <p:cNvPr id="14" name="Imagem 13" descr="Design PNG E SVG De Sinal De Semáforo Para Camisetas">
            <a:extLst>
              <a:ext uri="{FF2B5EF4-FFF2-40B4-BE49-F238E27FC236}">
                <a16:creationId xmlns:a16="http://schemas.microsoft.com/office/drawing/2014/main" id="{E7B95009-9D59-EBAE-CDAA-97F0A7B34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745" y="3330718"/>
            <a:ext cx="1739630" cy="1739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Descrição do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2024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I0.0 – Botão partida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I0.1 – Parada emergência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I0.2 – Pedestre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2024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1920240" cy="4572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46888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146304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Q0.0-Q0.2 – Semáforo A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Q0.3-Q0.5 – Semáforo 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Q0.6-Q0.7 – Pedestre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192024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1920240" cy="4572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66344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M0.0 – Sistema 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M0.1/M0.2 – Fase A/B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M0.3/M0.4 – Pedestre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960120"/>
            <a:ext cx="1920240" cy="3566160"/>
          </a:xfrm>
          <a:prstGeom prst="rect">
            <a:avLst/>
          </a:prstGeom>
          <a:solidFill>
            <a:srgbClr val="F2F3F4"/>
          </a:solidFill>
          <a:ln w="12700">
            <a:solidFill>
              <a:srgbClr val="D6EA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858000" y="960120"/>
            <a:ext cx="1920240" cy="45720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8580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1463040"/>
            <a:ext cx="1737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– Verde A (30 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– Amarelo A (3 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T2-T3 – Via B | T4 – Ped. (15 s)</a:t>
            </a:r>
            <a:endParaRPr lang="en-US" sz="1200" dirty="0"/>
          </a:p>
        </p:txBody>
      </p:sp>
      <p:pic>
        <p:nvPicPr>
          <p:cNvPr id="20" name="Imagem 19" descr="Download HD Semáforo Desenho Png - Semáforo Png Transparent PNG Image -  NicePNG.com">
            <a:extLst>
              <a:ext uri="{FF2B5EF4-FFF2-40B4-BE49-F238E27FC236}">
                <a16:creationId xmlns:a16="http://schemas.microsoft.com/office/drawing/2014/main" id="{D5ACEF6F-B435-819E-EAD6-EA59FEFB1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34024" y="4526280"/>
            <a:ext cx="275951" cy="6143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Automação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3291840"/>
          </a:xfrm>
          <a:prstGeom prst="rect">
            <a:avLst/>
          </a:prstGeom>
          <a:solidFill>
            <a:srgbClr val="D6EAF8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Botão Partida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Botão Parada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Botão Pedestre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2834640"/>
            <a:ext cx="1005840" cy="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926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377440" cy="3566160"/>
          </a:xfrm>
          <a:prstGeom prst="rect">
            <a:avLst/>
          </a:prstGeom>
          <a:solidFill>
            <a:srgbClr val="0D1B2A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83280" y="914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FIDDLE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1031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Ladder: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Lógica de estados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Temporizadores TON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Self-holding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Exclusão mútua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Flag pedestre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2834640"/>
            <a:ext cx="914400" cy="0"/>
          </a:xfrm>
          <a:prstGeom prst="line">
            <a:avLst/>
          </a:prstGeom>
          <a:noFill/>
          <a:ln w="381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093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2011680" cy="3291840"/>
          </a:xfrm>
          <a:prstGeom prst="rect">
            <a:avLst/>
          </a:prstGeom>
          <a:solidFill>
            <a:srgbClr val="D6EAF8"/>
          </a:solidFill>
          <a:ln w="254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858000" y="11887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ATUADORES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1828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Verde 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Amarelo 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Vermelho A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Verde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Amarelo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Sinal Vermelho B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Verde Pedestre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Vermelho Ped.</a:t>
            </a:r>
            <a:endParaRPr lang="en-US" sz="1150" dirty="0"/>
          </a:p>
        </p:txBody>
      </p:sp>
      <p:pic>
        <p:nvPicPr>
          <p:cNvPr id="17" name="Imagem 16" descr="Download HD Semáforo Desenho Png - Semáforo Png Transparent PNG Image -  NicePNG.com">
            <a:extLst>
              <a:ext uri="{FF2B5EF4-FFF2-40B4-BE49-F238E27FC236}">
                <a16:creationId xmlns:a16="http://schemas.microsoft.com/office/drawing/2014/main" id="{F6766F4E-6EB9-02A2-4B6D-37B533F0A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493029" y="3865828"/>
            <a:ext cx="271449" cy="6043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Controle – Ladder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56657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03120" y="10058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E844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10312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(30s)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4AC0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02336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(3s)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058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1E8449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0" y="1005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(30s)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005840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D4AC0D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06640" y="10058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AMARELO (3s)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1325880"/>
            <a:ext cx="32004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749040" y="1325880"/>
            <a:ext cx="32004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669280" y="1325880"/>
            <a:ext cx="32004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61120" y="1325880"/>
            <a:ext cx="0" cy="0"/>
          </a:xfrm>
          <a:prstGeom prst="line">
            <a:avLst/>
          </a:prstGeom>
          <a:noFill/>
          <a:ln w="19050">
            <a:solidFill>
              <a:srgbClr val="5665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874520" y="10972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10972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10972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2377440"/>
            <a:ext cx="2743200" cy="685800"/>
          </a:xfrm>
          <a:prstGeom prst="roundRect">
            <a:avLst>
              <a:gd name="adj" fmla="val 10667"/>
            </a:avLst>
          </a:prstGeom>
          <a:solidFill>
            <a:srgbClr val="1B4F72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200400" y="2377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PEDESTRE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Geral + Verde Ped. (15s)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M0.3=ON (solicitado)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3520440"/>
            <a:ext cx="868680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2E86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– Rung de Self-Holding (Partida):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8862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I0.0 ]──[ /I0.1 ]──[ /M0.0 ]──( M0.0 )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 M0.0 ]──[ /I0.1 ]────────────( M0.0 )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Temporização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005840"/>
            <a:ext cx="27432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023360" y="1005840"/>
            <a:ext cx="411480" cy="594360"/>
          </a:xfrm>
          <a:prstGeom prst="rect">
            <a:avLst/>
          </a:prstGeom>
          <a:solidFill>
            <a:srgbClr val="F4D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434840" y="1005840"/>
            <a:ext cx="274320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178040" y="1005840"/>
            <a:ext cx="41148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589520" y="1005840"/>
            <a:ext cx="118872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80160" y="1005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(30s)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00584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1005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(30s)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00584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0" y="1005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1828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1828800"/>
            <a:ext cx="274320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023360" y="1828800"/>
            <a:ext cx="41148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434840" y="1828800"/>
            <a:ext cx="274320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178040" y="1828800"/>
            <a:ext cx="411480" cy="594360"/>
          </a:xfrm>
          <a:prstGeom prst="rect">
            <a:avLst/>
          </a:prstGeom>
          <a:solidFill>
            <a:srgbClr val="F4D03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0" y="1828800"/>
            <a:ext cx="118872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8016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 (30s)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18288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(30s)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828800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589520" y="18288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26517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80160" y="2651760"/>
            <a:ext cx="274320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023360" y="2651760"/>
            <a:ext cx="41148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434840" y="2651760"/>
            <a:ext cx="274320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178040" y="2651760"/>
            <a:ext cx="411480" cy="594360"/>
          </a:xfrm>
          <a:prstGeom prst="rect">
            <a:avLst/>
          </a:prstGeom>
          <a:solidFill>
            <a:srgbClr val="922B2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7589520" y="2651760"/>
            <a:ext cx="1188720" cy="59436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028700" y="2639291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89520" y="26517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(15s)*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3375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6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*Fase pedestre ativada apenas quando o botão I0.2 é pressionado durante o ciclo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C0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57200" y="38221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Segurança: as duas vias NUNCA recebem sinal verde simultaneamente. A exclusão mútua é garantida por lógica de contatos NF na linguagem Ladder.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 Simulação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Ferramenta: PLC Fiddle (plcfiddle.com)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plcfiddle.com no navegador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075688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74320" y="2075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I0.0, I0.1, I0.2 (Bool) | Q0.0–Q0.7 (Bool) | M0.0–M0.4 (Bool) | T0–T4 (Timer)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734056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7432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7340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os rungs conforme lógica Ladder documentada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92424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7432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39242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a simulação e acionar os botões virtuais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4050792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2743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0507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a sequência: Verde A → Amarelo A → Verde B → Amarelo B → [Pedestre]</a:t>
            </a:r>
            <a:endParaRPr lang="en-US" sz="1300" dirty="0"/>
          </a:p>
        </p:txBody>
      </p:sp>
      <p:pic>
        <p:nvPicPr>
          <p:cNvPr id="23" name="Imagem 22" descr="Design PNG E SVG De Sinal De Semáforo Para Camisetas">
            <a:extLst>
              <a:ext uri="{FF2B5EF4-FFF2-40B4-BE49-F238E27FC236}">
                <a16:creationId xmlns:a16="http://schemas.microsoft.com/office/drawing/2014/main" id="{55EC0152-55F1-FF02-77A7-E4C310126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654" y="1920240"/>
            <a:ext cx="1785350" cy="1785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automatizado completo desenvolvido e simulado com sucesso no PLC Fiddle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81912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74320" y="1581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5819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Ladder implementa corretamente os 5 estados + fase pedestre condicional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203704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74320" y="2203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2037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mútua garantida: nunca há conflito entre os fluxos de tráfego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74320" y="2825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82549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Temporização precisa: Verde 30s, Amarelo 3s, Pedestre 15s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447288"/>
            <a:ext cx="411480" cy="41148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7432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44728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de emergência coloca o sistema em estado seguro imediatamente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411480" cy="41148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7432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0690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futura: sensores indutivos para controle adaptativo de tempo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USJT – Engenharia de Software  |  Sistemas Automatizados  |  Prof. Robson Calvetti  |  2026/1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9B36C-D9A8-1CFD-40DE-BE2E3384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>
            <a:extLst>
              <a:ext uri="{FF2B5EF4-FFF2-40B4-BE49-F238E27FC236}">
                <a16:creationId xmlns:a16="http://schemas.microsoft.com/office/drawing/2014/main" id="{A0F84536-1322-F5D3-9902-FC70E5EE4067}"/>
              </a:ext>
            </a:extLst>
          </p:cNvPr>
          <p:cNvSpPr/>
          <p:nvPr/>
        </p:nvSpPr>
        <p:spPr>
          <a:xfrm>
            <a:off x="0" y="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B01A63F-237D-C2A7-798C-971AD79888D4}"/>
              </a:ext>
            </a:extLst>
          </p:cNvPr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1167617-6DA6-003B-3238-8CACDE4767A9}"/>
              </a:ext>
            </a:extLst>
          </p:cNvPr>
          <p:cNvSpPr/>
          <p:nvPr/>
        </p:nvSpPr>
        <p:spPr>
          <a:xfrm>
            <a:off x="0" y="468630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22DDA7B-2136-829B-EB7E-87F3C671B25F}"/>
              </a:ext>
            </a:extLst>
          </p:cNvPr>
          <p:cNvSpPr/>
          <p:nvPr/>
        </p:nvSpPr>
        <p:spPr>
          <a:xfrm>
            <a:off x="8686800" y="4686300"/>
            <a:ext cx="457200" cy="4572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3" name="Imagem 22" descr="Design PNG E SVG De Sinal De Semáforo Para Camisetas">
            <a:extLst>
              <a:ext uri="{FF2B5EF4-FFF2-40B4-BE49-F238E27FC236}">
                <a16:creationId xmlns:a16="http://schemas.microsoft.com/office/drawing/2014/main" id="{C9877B9D-F65E-7BF4-FEDE-E55ABB505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2" y="3837528"/>
            <a:ext cx="1370139" cy="1370139"/>
          </a:xfrm>
          <a:prstGeom prst="rect">
            <a:avLst/>
          </a:prstGeom>
        </p:spPr>
      </p:pic>
      <p:sp>
        <p:nvSpPr>
          <p:cNvPr id="20" name="Retângulo 19">
            <a:extLst>
              <a:ext uri="{FF2B5EF4-FFF2-40B4-BE49-F238E27FC236}">
                <a16:creationId xmlns:a16="http://schemas.microsoft.com/office/drawing/2014/main" id="{D8FE2628-BB77-FC1A-180B-20B831423CF1}"/>
              </a:ext>
            </a:extLst>
          </p:cNvPr>
          <p:cNvSpPr/>
          <p:nvPr/>
        </p:nvSpPr>
        <p:spPr>
          <a:xfrm>
            <a:off x="1843189" y="825933"/>
            <a:ext cx="452094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60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r>
              <a:rPr lang="en-US" sz="54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5400" b="1" dirty="0">
              <a:ln/>
              <a:solidFill>
                <a:schemeClr val="accent3"/>
              </a:solidFill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62AA677-8C5E-5EF2-A702-EC11228DD856}"/>
              </a:ext>
            </a:extLst>
          </p:cNvPr>
          <p:cNvSpPr/>
          <p:nvPr/>
        </p:nvSpPr>
        <p:spPr>
          <a:xfrm>
            <a:off x="2331720" y="1742902"/>
            <a:ext cx="6583680" cy="165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0" indent="0" algn="l">
              <a:buNone/>
            </a:pPr>
            <a:r>
              <a:rPr lang="en-US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Coelho Jatobá                          RA: 823160685</a:t>
            </a:r>
          </a:p>
          <a:p>
            <a:r>
              <a:rPr lang="en-US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Luiza S. Kodama                    RA: 823128136</a:t>
            </a:r>
          </a:p>
          <a:p>
            <a:r>
              <a:rPr lang="pt-BR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Emanuel S. Adriano                RA: 823149648</a:t>
            </a:r>
            <a:br>
              <a:rPr lang="en-US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t-BR" sz="1600" b="1" dirty="0" err="1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Enzzon</a:t>
            </a:r>
            <a:r>
              <a:rPr lang="pt-BR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Gusttavo O. Nascimento   RA: 823153720</a:t>
            </a:r>
          </a:p>
          <a:p>
            <a:r>
              <a:rPr lang="pt-BR" sz="1600" b="1" dirty="0">
                <a:ln/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Expedito P. da Silva              RA:823133548</a:t>
            </a:r>
          </a:p>
          <a:p>
            <a:endParaRPr lang="en-US" sz="1600" b="1" dirty="0">
              <a:ln/>
              <a:solidFill>
                <a:schemeClr val="accent3"/>
              </a:solidFill>
            </a:endParaRPr>
          </a:p>
        </p:txBody>
      </p:sp>
      <p:pic>
        <p:nvPicPr>
          <p:cNvPr id="24" name="Imagem 23" descr="SÃO JUDAS">
            <a:extLst>
              <a:ext uri="{FF2B5EF4-FFF2-40B4-BE49-F238E27FC236}">
                <a16:creationId xmlns:a16="http://schemas.microsoft.com/office/drawing/2014/main" id="{47401112-E594-5874-858E-53614FB7E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168" y="4380083"/>
            <a:ext cx="3496992" cy="106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6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723</Words>
  <Application>Microsoft Office PowerPoint</Application>
  <PresentationFormat>Apresentação na tela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Automatizado de Semáforo Inteligente</dc:title>
  <dc:subject>PptxGenJS Presentation</dc:subject>
  <dc:creator>Grupo A3 – Sistemas Automatizados</dc:creator>
  <cp:lastModifiedBy>Indexsa 03</cp:lastModifiedBy>
  <cp:revision>4</cp:revision>
  <dcterms:created xsi:type="dcterms:W3CDTF">2026-05-21T22:32:39Z</dcterms:created>
  <dcterms:modified xsi:type="dcterms:W3CDTF">2026-06-10T17:50:35Z</dcterms:modified>
</cp:coreProperties>
</file>